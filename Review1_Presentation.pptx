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— PBL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 Rental and Lease Management System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— Problem Statement, Solution Strategy and ER Diagram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22860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2918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Pakanati Priyakaran Reddy  |  Roll No: 25WU0101090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AIML — Section Rhinos  |  Faculty: Dr. Sahithi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University, School of Technology  |  2026–27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• 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and small agencies track properties, tenants, leases and rent on paper registers or spreadsheets.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duplicate records, missed lease renewals, undetected payment delays, slow history lookup.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cannot see income and occupancy; managers reconcile by hand; tenants have no payment record.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one centralized, normalized database that enforces business rules.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• 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normalized relational database (up to 3NF) for owners, properties, tenants, leases, payments and maintenance.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Python application that connects to the database with data-entry and viewing screens.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create, read and delete operations that respect PK, FK and referential integrity.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rules such as lease date ranges and blocked deletion of referenced records.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occupancy, revenue and overdue-payment reports with SQL aggregate queries.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and Assumptions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•  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Property, owner, tenant, lease, payment and maintenance management; occupancy and revenue reports; validation and referential integrity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payment gateway, mobile app, multi-branch / multi-currency, tenant self-service login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administrator (property manager); amounts in INR; each property has exactly one owner; at most one active lease per 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 Strategy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•  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/ roles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manager / administrator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Owners, Properties, Tenants, Leases, Payments, Maintenance, Reports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owner → add property → register tenant → create lease → record payments → log maintenance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date after start date; no delete of referenced records; occupancy derived from active lease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Occupancy by type, monthly revenue, overdue 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Requirements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•  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943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Add, view and remove owner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Add, view and remove properties linked to an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Add, view and remove tenant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lease; reject end date on or before start 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rent payments against a lease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and view maintenance requests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deletion of records still referenced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Occupancy, revenue and overdue 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Entity-Relationship Diagram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• 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7373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529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1737360" cy="292608"/>
          </a:xfrm>
          <a:prstGeom prst="rect">
            <a:avLst/>
          </a:prstGeom>
          <a:solidFill>
            <a:srgbClr val="0E5297"/>
          </a:solidFill>
          <a:ln w="12700">
            <a:solidFill>
              <a:srgbClr val="0E529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" y="1005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7472" y="1335024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owner_id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0" y="1005840"/>
            <a:ext cx="17373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49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1005840"/>
            <a:ext cx="1737360" cy="292608"/>
          </a:xfrm>
          <a:prstGeom prst="rect">
            <a:avLst/>
          </a:prstGeom>
          <a:solidFill>
            <a:srgbClr val="1C7494"/>
          </a:solidFill>
          <a:ln w="12700">
            <a:solidFill>
              <a:srgbClr val="1C749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86000" y="1005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59152" y="1335024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property_id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rent_amount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0" y="1005840"/>
            <a:ext cx="173736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529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005840"/>
            <a:ext cx="1737360" cy="292608"/>
          </a:xfrm>
          <a:prstGeom prst="rect">
            <a:avLst/>
          </a:prstGeom>
          <a:solidFill>
            <a:srgbClr val="0E5297"/>
          </a:solidFill>
          <a:ln w="12700">
            <a:solidFill>
              <a:srgbClr val="0E529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1005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370832" y="1335024"/>
            <a:ext cx="1591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lease_id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09360" y="1005840"/>
            <a:ext cx="17373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49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005840"/>
            <a:ext cx="1737360" cy="292608"/>
          </a:xfrm>
          <a:prstGeom prst="rect">
            <a:avLst/>
          </a:prstGeom>
          <a:solidFill>
            <a:srgbClr val="1C7494"/>
          </a:solidFill>
          <a:ln w="12700">
            <a:solidFill>
              <a:srgbClr val="1C749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10058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82512" y="1335024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tenant_id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id_proof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97680" y="2971800"/>
            <a:ext cx="17373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49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2971800"/>
            <a:ext cx="1737360" cy="292608"/>
          </a:xfrm>
          <a:prstGeom prst="rect">
            <a:avLst/>
          </a:prstGeom>
          <a:solidFill>
            <a:srgbClr val="1C7494"/>
          </a:solidFill>
          <a:ln w="12700">
            <a:solidFill>
              <a:srgbClr val="1C749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97680" y="29718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370832" y="3300984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payment_date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09360" y="2971800"/>
            <a:ext cx="17373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529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2971800"/>
            <a:ext cx="1737360" cy="292608"/>
          </a:xfrm>
          <a:prstGeom prst="rect">
            <a:avLst/>
          </a:prstGeom>
          <a:solidFill>
            <a:srgbClr val="0E5297"/>
          </a:solidFill>
          <a:ln w="12700">
            <a:solidFill>
              <a:srgbClr val="0E529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09360" y="29718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382512" y="3300984"/>
            <a:ext cx="15910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request_id (PK)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tenant_id (FK)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issue_desc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011680" y="1737360"/>
            <a:ext cx="27432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828800" y="1481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023360" y="1737360"/>
            <a:ext cx="27432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40480" y="1481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1737360"/>
            <a:ext cx="27432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852160" y="1481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66360" y="2606040"/>
            <a:ext cx="0" cy="36576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212080" y="26517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78040" y="2331720"/>
            <a:ext cx="0" cy="64008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23760" y="25146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54680" y="2331720"/>
            <a:ext cx="0" cy="224028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54680" y="4572000"/>
            <a:ext cx="4434840" cy="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89520" y="4297680"/>
            <a:ext cx="0" cy="27432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200400" y="42976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and Relationship Summary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•  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84048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attributes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owner_id, name, phone, email, 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1:M 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property_id, owner_id, address, type, rent_amount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1:M Lease, 1:M Maintenance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tenant_id, name, phone, email, id_proof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 1:M Lease, 1:M Maintenance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lease_id, property_id, tenant_id, dates, deposit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 1:M Payment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payment_id, lease_id, amount, date,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Belongs to one Lease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request_id, property_id, tenant_id, issue,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Belongs to Property and Tenant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1</dc:title>
  <dc:subject>PptxGenJS Presentation</dc:subject>
  <dc:creator>PptxGenJS</dc:creator>
  <cp:lastModifiedBy>PptxGenJS</cp:lastModifiedBy>
  <cp:revision>1</cp:revision>
  <dcterms:created xsi:type="dcterms:W3CDTF">2026-10-10T22:29:51Z</dcterms:created>
  <dcterms:modified xsi:type="dcterms:W3CDTF">2026-10-10T22:29:51Z</dcterms:modified>
</cp:coreProperties>
</file>